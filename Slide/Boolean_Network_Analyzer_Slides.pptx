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62895" y="-914400"/>
            <a:ext cx="3657600" cy="365760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48495" y="-1371600"/>
            <a:ext cx="5029200" cy="502920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34095" y="-1828800"/>
            <a:ext cx="6400800" cy="640080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640080"/>
            <a:ext cx="31089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HCMUT  •  Capstone Project P6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Georgia"/>
              </a:rPr>
              <a:t>Boolean Network Analyzer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 i="1">
                <a:solidFill>
                  <a:srgbClr val="F8C471"/>
                </a:solidFill>
                <a:latin typeface="Georgia"/>
              </a:rPr>
              <a:t>Parsing, simulating, and analyzing Boolean networks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Tran Phan Dang Khoi  •  Student ID 2352626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Faculty of Computer Science &amp; Engineering — HCMUT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Capstone Project — Artificial Intelligence Track  •  2025–2026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What we cover today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50876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6304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21B2A"/>
                </a:solidFill>
                <a:latin typeface="Calibri"/>
              </a:rPr>
              <a:t>Motivation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50876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Why model with Boolean networks?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103120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5740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21B2A"/>
                </a:solidFill>
                <a:latin typeface="Calibri"/>
              </a:rPr>
              <a:t>Theory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10312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Influence graph, update schemes, STG, attractors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269748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97480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6517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21B2A"/>
                </a:solidFill>
                <a:latin typeface="Calibri"/>
              </a:rPr>
              <a:t>System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69748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Architecture and module overview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329184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91840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24612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21B2A"/>
                </a:solidFill>
                <a:latin typeface="Calibri"/>
              </a:rPr>
              <a:t>Implementation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29184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Parser, engine, UI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388620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86200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84048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21B2A"/>
                </a:solidFill>
                <a:latin typeface="Calibri"/>
              </a:rPr>
              <a:t>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88620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Live walkthrough of the Streamlit app</a:t>
            </a:r>
          </a:p>
        </p:txBody>
      </p:sp>
      <p:sp>
        <p:nvSpPr>
          <p:cNvPr id="26" name="Oval 25"/>
          <p:cNvSpPr/>
          <p:nvPr/>
        </p:nvSpPr>
        <p:spPr>
          <a:xfrm>
            <a:off x="822960" y="448056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480560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3484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21B2A"/>
                </a:solidFill>
                <a:latin typeface="Calibri"/>
              </a:rPr>
              <a:t>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448056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Reference networks and test results</a:t>
            </a:r>
          </a:p>
        </p:txBody>
      </p:sp>
      <p:sp>
        <p:nvSpPr>
          <p:cNvPr id="30" name="Oval 29"/>
          <p:cNvSpPr/>
          <p:nvPr/>
        </p:nvSpPr>
        <p:spPr>
          <a:xfrm>
            <a:off x="822960" y="507492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074920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02920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21B2A"/>
                </a:solidFill>
                <a:latin typeface="Calibri"/>
              </a:rPr>
              <a:t>Conclusion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507492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Boolean Network Analyzer  •  Tran Phan Dang Khoi  •  HCMUT CSE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Why Boolean networks?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73152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65A82"/>
                </a:solidFill>
                <a:latin typeface="Calibri"/>
              </a:rPr>
              <a:t>ON/OFF abstraction of complex regulatory circuits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713232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500">
                <a:solidFill>
                  <a:srgbClr val="121B2A"/>
                </a:solidFill>
                <a:latin typeface="Calibri"/>
              </a:rPr>
              <a:t>Reproduce qualitative dynamics when quantitative parameters are unknown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500">
                <a:solidFill>
                  <a:srgbClr val="121B2A"/>
                </a:solidFill>
                <a:latin typeface="Calibri"/>
              </a:rPr>
              <a:t>Cell-cycle, signal-transduction, gene regulatory networks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500">
                <a:solidFill>
                  <a:srgbClr val="121B2A"/>
                </a:solidFill>
                <a:latin typeface="Calibri"/>
              </a:rPr>
              <a:t>Synthetic biology design and analysis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500">
                <a:solidFill>
                  <a:srgbClr val="121B2A"/>
                </a:solidFill>
                <a:latin typeface="Calibri"/>
              </a:rPr>
              <a:t>Discrete state space — exhaustively analysable for small 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6858000" cy="1554480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52628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65A82"/>
                </a:solidFill>
                <a:latin typeface="Calibri"/>
              </a:rPr>
              <a:t>But: 2^n curse of dimensionality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937760"/>
            <a:ext cx="6400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21B2A"/>
                </a:solidFill>
                <a:latin typeface="Calibri"/>
              </a:rPr>
              <a:t>A 20-node network has ~10^6 states; 30-node has ~10^9. Manual inspection is impossible — tooling is essential.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1554480"/>
            <a:ext cx="3657600" cy="44348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920240"/>
            <a:ext cx="3657600" cy="1463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0" b="1" i="0">
                <a:solidFill>
                  <a:srgbClr val="FFFFFF"/>
                </a:solidFill>
                <a:latin typeface="Georgia"/>
              </a:rPr>
              <a:t>2ⁿ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3749039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0" i="1">
                <a:solidFill>
                  <a:srgbClr val="F8C471"/>
                </a:solidFill>
                <a:latin typeface="Calibri"/>
              </a:rPr>
              <a:t>states for n nodes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4297680"/>
            <a:ext cx="365760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n = 10  →  1,024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n = 20  →  ~1 million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n = 30  →  ~1 billion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Boolean Network Analyzer  •  Tran Phan Dang Khoi  •  HCMUT CSE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Boolean networks — formal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65A82"/>
                </a:solidFill>
                <a:latin typeface="Calibri"/>
              </a:rPr>
              <a:t>A Boolean network is a tuple (V, 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731520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V = {x₁, …, xₙ} — finite set of Boolean variables (genes, proteins, …)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F = {f₁, …, fₙ} — Boolean update rules: fᵢ : {0,1}ⁿ → {0,1}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State at time t : s(t) ∈ {0,1}ⁿ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Dynamics: s(t+1) determined by F and the chosen update scheme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389120"/>
            <a:ext cx="7315200" cy="182880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43484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Example — bistable toggle switch (.bnet)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00600"/>
            <a:ext cx="68580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121B2A"/>
                </a:solidFill>
                <a:latin typeface="Consolas"/>
              </a:rPr>
              <a:t>targets, factors
A, !B
B, !A</a:t>
            </a:r>
          </a:p>
        </p:txBody>
      </p:sp>
      <p:pic>
        <p:nvPicPr>
          <p:cNvPr id="10" name="Picture 9" descr="influence_repressi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463040"/>
            <a:ext cx="3383280" cy="222565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0" y="50292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00">
                <a:solidFill>
                  <a:srgbClr val="94A3B8"/>
                </a:solidFill>
                <a:latin typeface="Calibri"/>
              </a:rPr>
              <a:t>Influence graph of the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00">
                <a:solidFill>
                  <a:srgbClr val="94A3B8"/>
                </a:solidFill>
                <a:latin typeface="Calibri"/>
              </a:rPr>
              <a:t>3-gene repressilator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Boolean Network Analyzer  •  Tran Phan Dang Khoi  •  HCMUT CSE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Update schemes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Which nodes update at each time step?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39496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394960" cy="6400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73352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Synchronous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4937760" cy="3246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Every node updates simultaneously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sᵢ(t+1) = fᵢ(s(t))   for all i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Fully deterministic — out-degree 1 in the STG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Original Kauffman (1969) formulation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Simple to analyse, but biologically idealised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554480"/>
            <a:ext cx="539496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554480"/>
            <a:ext cx="5394960" cy="64008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73352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Asynchronous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423160"/>
            <a:ext cx="4937760" cy="3246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Exactly one node updates per step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Choice is non-deterministic among nodes whose rule disagrees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STG branches — out-degree ≥ 1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Self-loop on every fixed point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Biologically more realistic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Boolean Network Analyzer  •  Tran Phan Dang Khoi  •  HCMUT CSE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State-Transition Graph &amp; attractors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65A82"/>
                </a:solidFill>
                <a:latin typeface="Calibri"/>
              </a:rPr>
              <a:t>STG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4864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Nodes = the 2ⁿ possible states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Edges = one-step transitions under the chosen update scheme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65A82"/>
                </a:solidFill>
                <a:latin typeface="Calibri"/>
              </a:rPr>
              <a:t>Attractor = terminal SCC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548640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Fixed point — singleton SCC, stable steady state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Cyclic — SCC is a single directed cycle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Complex — branching SCC (only under async)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Basin of attraction = states whose trajectory ends in A</a:t>
            </a:r>
          </a:p>
        </p:txBody>
      </p:sp>
      <p:pic>
        <p:nvPicPr>
          <p:cNvPr id="9" name="Picture 8" descr="stg_sync_repressi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3751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585216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Synchronous STG of the repressilator — yellow = attractor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Boolean Network Analyzer  •  Tran Phan Dang Khoi  •  HCMUT CSE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Presentation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4241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app.py — Streamlit web UI:  sidebar (load / scheme), 5 tabs (influence graph, STG, attractors, simulate, source)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10698480" cy="128016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2783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Engine — bnanalyzer Python package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49040"/>
            <a:ext cx="104241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parser  •  network  •  stg  •  attractors  •  visualize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72000"/>
            <a:ext cx="10698480" cy="128016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3659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Storage &amp; I/O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257800"/>
            <a:ext cx="104241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.bnet files (samples + user uploads)  •  PNG export of figures  •  validation through pytest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Boolean Network Analyzer  •  Tran Phan Dang Khoi  •  HCMUT CSE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highlights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539496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44752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65A82"/>
                </a:solidFill>
                <a:latin typeface="Calibri"/>
              </a:rPr>
              <a:t>Parser &amp; evaluator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93776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300">
                <a:solidFill>
                  <a:srgbClr val="121B2A"/>
                </a:solidFill>
                <a:latin typeface="Calibri"/>
              </a:rPr>
              <a:t>Tokenises both symbolic (!, &amp;, |) and word (not, and, or) operators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300">
                <a:solidFill>
                  <a:srgbClr val="121B2A"/>
                </a:solidFill>
                <a:latin typeface="Calibri"/>
              </a:rPr>
              <a:t>Validates: unique targets, declared inputs, syntactic correctness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300">
                <a:solidFill>
                  <a:srgbClr val="121B2A"/>
                </a:solidFill>
                <a:latin typeface="Calibri"/>
              </a:rPr>
              <a:t>Compiles each rule with Python compile() → fast evaluation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300">
                <a:solidFill>
                  <a:srgbClr val="121B2A"/>
                </a:solidFill>
                <a:latin typeface="Calibri"/>
              </a:rPr>
              <a:t>Sign inference: enumerate other inputs, compare output for source 0/1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617720"/>
            <a:ext cx="4846320" cy="1371600"/>
          </a:xfrm>
          <a:prstGeom prst="roundRect">
            <a:avLst>
              <a:gd name="adj" fmla="val 10000"/>
            </a:avLst>
          </a:prstGeom>
          <a:solidFill>
            <a:srgbClr val="12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45720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>
                <a:solidFill>
                  <a:srgbClr val="F8C471"/>
                </a:solidFill>
                <a:latin typeface="Consolas"/>
              </a:rPr>
              <a:t>def evaluate_all(self, state):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>
                <a:solidFill>
                  <a:srgbClr val="F8C471"/>
                </a:solidFill>
                <a:latin typeface="Consolas"/>
              </a:rPr>
              <a:t>    ctx = self.state_to_dict(state)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>
                <a:solidFill>
                  <a:srgbClr val="F8C471"/>
                </a:solidFill>
                <a:latin typeface="Consolas"/>
              </a:rPr>
              <a:t>    return tuple(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>
                <a:solidFill>
                  <a:srgbClr val="F8C471"/>
                </a:solidFill>
                <a:latin typeface="Consolas"/>
              </a:rPr>
              <a:t>        eval(c, {}, ctx)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>
                <a:solidFill>
                  <a:srgbClr val="F8C471"/>
                </a:solidFill>
                <a:latin typeface="Consolas"/>
              </a:rPr>
              <a:t>        for c in self._compiled.values())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280160"/>
            <a:ext cx="521208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444752"/>
            <a:ext cx="4663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STG &amp; attractors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965960"/>
            <a:ext cx="475488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300">
                <a:solidFill>
                  <a:srgbClr val="121B2A"/>
                </a:solidFill>
                <a:latin typeface="Calibri"/>
              </a:rPr>
              <a:t>build_state_transition_graph(net, scheme): full 2ⁿ enumeration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300">
                <a:solidFill>
                  <a:srgbClr val="121B2A"/>
                </a:solidFill>
                <a:latin typeface="Calibri"/>
              </a:rPr>
              <a:t>Sync: out-degree = 1 (deterministic)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300">
                <a:solidFill>
                  <a:srgbClr val="121B2A"/>
                </a:solidFill>
                <a:latin typeface="Calibri"/>
              </a:rPr>
              <a:t>Async: branch on every node whose rule disagrees with current value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300">
                <a:solidFill>
                  <a:srgbClr val="121B2A"/>
                </a:solidFill>
                <a:latin typeface="Calibri"/>
              </a:rPr>
              <a:t>Attractors = terminal SCCs in nx.condensation(g)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300">
                <a:solidFill>
                  <a:srgbClr val="121B2A"/>
                </a:solidFill>
                <a:latin typeface="Calibri"/>
              </a:rPr>
              <a:t>Classify by structure: fixed / cyclic / complex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4800600"/>
            <a:ext cx="4663440" cy="1188720"/>
          </a:xfrm>
          <a:prstGeom prst="roundRect">
            <a:avLst>
              <a:gd name="adj" fmla="val 10000"/>
            </a:avLst>
          </a:prstGeom>
          <a:solidFill>
            <a:srgbClr val="12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4892040"/>
            <a:ext cx="4389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8C471"/>
                </a:solidFill>
                <a:latin typeface="Consolas"/>
              </a:rPr>
              <a:t>def find_attractors(g):
    cond = nx.condensation(g)
    return [members(c) for c in cond
            if cond.out_degree(c) == 0]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Boolean Network Analyzer  •  Tran Phan Dang Khoi  •  HCMUT CSE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Streamlit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Five tabs over a shared sidebar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640080" cy="7772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4008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46304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65A82"/>
                </a:solidFill>
                <a:latin typeface="Calibri"/>
              </a:rPr>
              <a:t>Influence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82880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21B2A"/>
                </a:solidFill>
                <a:latin typeface="Calibri"/>
              </a:rPr>
              <a:t>Sign-coloured network drawing: + activation, - inhibition, ? non-monotonic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640080" cy="7772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77440"/>
            <a:ext cx="64008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42316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65A82"/>
                </a:solidFill>
                <a:latin typeface="Calibri"/>
              </a:rPr>
              <a:t>STG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78892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21B2A"/>
                </a:solidFill>
                <a:latin typeface="Calibri"/>
              </a:rPr>
              <a:t>Full state-transition graph; attractor states highlighted in yellow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37560"/>
            <a:ext cx="640080" cy="7772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64008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3832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65A82"/>
                </a:solidFill>
                <a:latin typeface="Calibri"/>
              </a:rPr>
              <a:t>Attractors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7490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21B2A"/>
                </a:solidFill>
                <a:latin typeface="Calibri"/>
              </a:rPr>
              <a:t>Every attractor with its kind, member states, and weak basin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97680"/>
            <a:ext cx="640080" cy="7772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64008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34340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65A82"/>
                </a:solidFill>
                <a:latin typeface="Calibri"/>
              </a:rPr>
              <a:t>Simulate trajectory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70916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21B2A"/>
                </a:solidFill>
                <a:latin typeface="Calibri"/>
              </a:rPr>
              <a:t>Step from any initial state; sync or async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57800"/>
            <a:ext cx="640080" cy="7772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257800"/>
            <a:ext cx="64008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035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65A82"/>
                </a:solidFill>
                <a:latin typeface="Calibri"/>
              </a:rPr>
              <a:t>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66928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21B2A"/>
                </a:solidFill>
                <a:latin typeface="Calibri"/>
              </a:rPr>
              <a:t>Raw .bnet text with download button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Boolean Network Analyzer  •  Tran Phan Dang Khoi  •  HCMUT CSE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Demo &amp; case studies</a:t>
            </a:r>
          </a:p>
        </p:txBody>
      </p:sp>
      <p:pic>
        <p:nvPicPr>
          <p:cNvPr id="5" name="Picture 4" descr="influence_t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17320"/>
            <a:ext cx="4480560" cy="1737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315468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toy_switch.bnet — single fixed point</a:t>
            </a:r>
          </a:p>
        </p:txBody>
      </p:sp>
      <p:pic>
        <p:nvPicPr>
          <p:cNvPr id="7" name="Picture 6" descr="influence_repressil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417320"/>
            <a:ext cx="4480560" cy="1737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3154680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repressilator.bnet — 3 inhibitions in a cycle</a:t>
            </a:r>
          </a:p>
        </p:txBody>
      </p:sp>
      <p:pic>
        <p:nvPicPr>
          <p:cNvPr id="9" name="Picture 8" descr="stg_sync_repressil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3794759"/>
            <a:ext cx="4480560" cy="1737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532119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Sync STG — length-6 cycle + length-2 cycle</a:t>
            </a:r>
          </a:p>
        </p:txBody>
      </p:sp>
      <p:pic>
        <p:nvPicPr>
          <p:cNvPr id="11" name="Picture 10" descr="stg_async_bista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3794759"/>
            <a:ext cx="4480560" cy="1737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5532119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Async STG — bistable toggle, 2 fixed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Boolean Network Analyzer  •  Tran Phan Dang Khoi  •  HCMUT CSE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Validation against reference networks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17320"/>
          <a:ext cx="108813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14400"/>
                <a:gridCol w="2743200"/>
                <a:gridCol w="2743200"/>
                <a:gridCol w="2651760"/>
              </a:tblGrid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Nodes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Sync attractors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Async attractors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toy_switch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1 fixed point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1 fixed point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bistable_toggle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2 FP + 1 cyclic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2 fixed points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Gardner 2000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repressilator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length-6 cycle + length-2 cycle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1 complex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Elowitz 2000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fission_yeast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1 dominant FP (G1)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1 dominant FP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Davidich 2008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mammalian_cycle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FP + cycle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1 complex (cycling)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21B2A"/>
                          </a:solidFill>
                          <a:latin typeface="Calibri"/>
                        </a:rPr>
                        <a:t>Faure 2006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Boolean Network Analyzer  •  Tran Phan Dang Khoi  •  HCMUT CSE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Testing &amp; engineering quality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3383280" cy="219456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383280" cy="11887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Georgia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 i="1">
                <a:solidFill>
                  <a:srgbClr val="F8C471"/>
                </a:solidFill>
                <a:latin typeface="Calibri"/>
              </a:rPr>
              <a:t>pytest tests, all passing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219456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554480"/>
            <a:ext cx="3383280" cy="11887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7432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 i="1">
                <a:solidFill>
                  <a:srgbClr val="F8C471"/>
                </a:solidFill>
                <a:latin typeface="Calibri"/>
              </a:rPr>
              <a:t>reference networks bundled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383280" cy="219456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554480"/>
            <a:ext cx="3383280" cy="11887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Georgia"/>
              </a:rPr>
              <a:t>&lt;1s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7432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 i="1">
                <a:solidFill>
                  <a:srgbClr val="F8C471"/>
                </a:solidFill>
                <a:latin typeface="Calibri"/>
              </a:rPr>
              <a:t>runtime for the full suite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65A82"/>
                </a:solidFill>
                <a:latin typeface="Calibri"/>
              </a:rPr>
              <a:t>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26280"/>
            <a:ext cx="1097280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300">
                <a:solidFill>
                  <a:srgbClr val="121B2A"/>
                </a:solidFill>
                <a:latin typeface="Calibri"/>
              </a:rPr>
              <a:t>Parser: malformed inputs, dangling references, comments, word/symbol operators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300">
                <a:solidFill>
                  <a:srgbClr val="121B2A"/>
                </a:solidFill>
                <a:latin typeface="Calibri"/>
              </a:rPr>
              <a:t>Engine: rule evaluation, state encoding, influence-graph signs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300">
                <a:solidFill>
                  <a:srgbClr val="121B2A"/>
                </a:solidFill>
                <a:latin typeface="Calibri"/>
              </a:rPr>
              <a:t>STG: out-degree under sync vs async, self-loops on fixed points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300">
                <a:solidFill>
                  <a:srgbClr val="121B2A"/>
                </a:solidFill>
                <a:latin typeface="Calibri"/>
              </a:rPr>
              <a:t>Attractors: bistable toggle, repressilator (length-6 cycle), constant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Boolean Network Analyzer  •  Tran Phan Dang Khoi  •  HCMUT CSE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65A82"/>
                </a:solidFill>
                <a:latin typeface="Calibri"/>
              </a:rPr>
              <a:t>Current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303520" cy="4114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Explicit 2ⁿ enumeration → comfortable up to ~16 nodes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Static layout for the STG: hard to read past 100 states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No probabilistic transitions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Only synchronous and full asynchronous schemes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303520" cy="4114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Symbolic attractor detection (BDD / SAT) for n ≥ 30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Probabilistic Boolean networks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Knock-out / over-expression perturbation analysis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Export / import to GINsim and SBML-qual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buChar char="•"/>
            </a:pPr>
            <a:r>
              <a:rPr sz="1400">
                <a:solidFill>
                  <a:srgbClr val="121B2A"/>
                </a:solidFill>
                <a:latin typeface="Calibri"/>
              </a:rPr>
              <a:t>Interactive STG layout (D3 or pyvis)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Boolean Network Analyzer  •  Tran Phan Dang Khoi  •  HCMUT CSE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0" i="1">
                <a:solidFill>
                  <a:srgbClr val="F8C471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Tran Phan Dang Khoi  •  Student ID 2352626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949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dangkhointmk@gmail.com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 i="1">
                <a:solidFill>
                  <a:srgbClr val="94A3B8"/>
                </a:solidFill>
                <a:latin typeface="Calibri"/>
              </a:rPr>
              <a:t>github.com/&lt;your-username&gt;/boolean-network-analyzer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